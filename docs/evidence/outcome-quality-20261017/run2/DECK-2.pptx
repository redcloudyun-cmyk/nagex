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($)</c:v>
                </c:pt>
              </c:strCache>
            </c:strRef>
          </c:tx>
          <c:spPr>
            <a:solidFill>
              <a:srgbClr val="0A56F7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Option A</c:v>
                  </c:pt>
                  <c:pt idx="1">
                    <c:v>Option B</c:v>
                  </c:pt>
                  <c:pt idx="2">
                    <c:v>Option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18000</c:v>
                </c:pt>
                <c:pt idx="1">
                  <c:v>9500</c:v>
                </c:pt>
                <c:pt idx="2">
                  <c:v>24000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the key figures for our decision, including our team size of 30 people and the requirement to reach a decision by November 15,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displays the cost for each of the three options, ranging from $9,500 for Option B up to $24,000 for Option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compares the three choices across cost, timeline, and risk. All options take 12 weeks, but they vary in cost and risk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includes the reference image provided for the presentation, labeled as 주간 처리 건수 막대그래프.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summarize, leadership must weigh the costs, risks, and work models of Option A, Option B, and Option C before the November 15, 2026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GEX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A56F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44168"/>
            <a:ext cx="1090879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alt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NAgex</a:t>
            </a:r>
            <a:endParaRPr lang="en-US" sz="10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alt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alt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GEX_COV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A56F7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alt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406908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alt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Strategy Decision Deck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4069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briefing for team size of 30 people and 2026-11-15 decision deadline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Figures for the Workplace Strategy Decision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5317236" cy="237744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altLang="en-US" sz="4800" b="1" dirty="0">
                <a:solidFill>
                  <a:srgbClr val="0A5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800" dirty="0"/>
          </a:p>
          <a:p>
            <a:pPr algn="ctr" indent="0" marL="0">
              <a:buNone/>
            </a:pPr>
            <a:r>
              <a:rPr lang="en-US" alt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4800" dirty="0"/>
          </a:p>
          <a:p>
            <a:pPr algn="ctr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team members affected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231636" y="1737360"/>
            <a:ext cx="5317236" cy="237744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12700">
            <a:solidFill>
              <a:srgbClr val="E2E8F0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altLang="en-US" sz="4800" b="1" dirty="0">
                <a:solidFill>
                  <a:srgbClr val="0A5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2026-11-15</a:t>
            </a:r>
            <a:endParaRPr lang="en-US" sz="4800" dirty="0"/>
          </a:p>
          <a:p>
            <a:pPr algn="ctr" indent="0" marL="0">
              <a:buNone/>
            </a:pPr>
            <a:r>
              <a:rPr lang="en-US" alt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Deadline</a:t>
            </a:r>
            <a:endParaRPr lang="en-US" sz="4800" dirty="0"/>
          </a:p>
          <a:p>
            <a:pPr algn="ctr" indent="0" marL="0">
              <a:buNone/>
            </a:pPr>
            <a:r>
              <a:rPr lang="en-US" alt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date for final choice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team size and decision timeline.</a:t>
            </a:r>
            <a:endParaRPr lang="en-US" sz="20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 guiding the evaluation of all options.</a:t>
            </a:r>
            <a:endParaRPr lang="en-US" sz="2000" dirty="0"/>
          </a:p>
        </p:txBody>
      </p:sp>
      <p:sp>
        <p:nvSpPr>
          <p:cNvPr id="7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Costs Comparison</a:t>
            </a:r>
            <a:endParaRPr lang="en-US" sz="3000" dirty="0"/>
          </a:p>
        </p:txBody>
      </p:sp>
      <p:graphicFrame>
        <p:nvGraphicFramePr>
          <p:cNvPr id="3" name="Chart" descr="Bar chart. Cost ($): Option A 18000$, Option B 9500$, Option C 24000$"/>
          <p:cNvGraphicFramePr/>
          <p:nvPr/>
        </p:nvGraphicFramePr>
        <p:xfrm>
          <a:off x="640080" y="1554480"/>
          <a:ext cx="70408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955280" y="1737360"/>
            <a:ext cx="359359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financial investment required for each strategy.</a:t>
            </a:r>
            <a:endParaRPr lang="en-US" sz="20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has the lowest cost while Option C is the highest.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59436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option costs</a:t>
            </a:r>
            <a:endParaRPr lang="en-US" sz="1200" dirty="0"/>
          </a:p>
        </p:txBody>
      </p:sp>
      <p:sp>
        <p:nvSpPr>
          <p:cNvPr id="7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Comparison of All Options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6181344"/>
                <a:gridCol w="1454810"/>
                <a:gridCol w="1817827"/>
                <a:gridCol w="1454810"/>
              </a:tblGrid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A (hybrid, 3 office days)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weeks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B (fully remote)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$9,500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weeks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279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C (office only)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$24,000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weeks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48640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costs, timelines, and risk levels side by side.</a:t>
            </a:r>
            <a:endParaRPr lang="en-US" sz="18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options share the same 12-week duration.</a:t>
            </a:r>
            <a:endParaRPr lang="en-US" sz="18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Processing Count Reference</a:t>
            </a:r>
            <a:endParaRPr lang="en-US" sz="3000" dirty="0"/>
          </a:p>
        </p:txBody>
      </p:sp>
      <p:pic>
        <p:nvPicPr>
          <p:cNvPr id="3" name="Picture" descr="주간 처리 건수 막대그래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13055"/>
            <a:ext cx="5852160" cy="32604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5778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 처리 건수 막대그래프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766560" y="1645920"/>
            <a:ext cx="4782312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visual provided for context.</a:t>
            </a:r>
            <a:endParaRPr lang="en-US" sz="22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weekly processing counts.</a:t>
            </a:r>
            <a:endParaRPr lang="en-US" sz="2200" dirty="0"/>
          </a:p>
        </p:txBody>
      </p:sp>
      <p:sp>
        <p:nvSpPr>
          <p:cNvPr id="7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47472"/>
            <a:ext cx="1090879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Next Steps for Leadership</a:t>
            </a:r>
            <a:endParaRPr lang="en-US" sz="30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640080" y="1554480"/>
            <a:ext cx="10908792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Option A for a balanced hybrid approach with low risk.</a:t>
            </a:r>
            <a:endParaRPr lang="en-US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Option B for the lowest cost with medium risk.</a:t>
            </a:r>
            <a:endParaRPr lang="en-US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Option C if an office-only environment is preferred despite higher cost.</a:t>
            </a:r>
            <a:endParaRPr lang="en-US" sz="2400" dirty="0"/>
          </a:p>
          <a:p>
            <a:pPr algn="l" marL="279400" indent="-279400">
              <a:spcAft>
                <a:spcPts val="1000"/>
              </a:spcAft>
              <a:buSzPct val="100000"/>
              <a:buChar char="•"/>
            </a:pPr>
            <a:r>
              <a:rPr lang="en-US" altLang="en-US" sz="2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the decision before November 15, 2026.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NAgex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Workplace Strategy Decision Deck</dc:title>
  <dc:subject>Leadership briefing for team size of 30 people and 2026-11-15 decision deadline</dc:subject>
  <dc:creator>NAgex</dc:creator>
  <cp:lastModifiedBy>NAgex</cp:lastModifiedBy>
  <cp:revision>1</cp:revision>
  <dcterms:created xsi:type="dcterms:W3CDTF">2026-10-17T08:37:27Z</dcterms:created>
  <dcterms:modified xsi:type="dcterms:W3CDTF">2026-10-17T08:37:27Z</dcterms:modified>
</cp:coreProperties>
</file>