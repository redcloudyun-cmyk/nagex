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charts/chart1.xml" ContentType="application/vnd.openxmlformats-officedocument.drawingml.chart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변화율</c:v>
                </c:pt>
              </c:strCache>
            </c:strRef>
          </c:tx>
          <c:spPr>
            <a:solidFill>
              <a:srgbClr val="0A56F7"/>
            </a:solidFill>
            <a:effectLst/>
          </c:spPr>
          <c:invertIfNegative val="0"/>
          <c:dLbls>
            <c:numFmt formatCode="#,##0&quot;%&quot;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1F2937"/>
                    </a:solidFill>
                    <a:latin typeface="Malgun Gothic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회의 준비 시간</c:v>
                  </c:pt>
                  <c:pt idx="1">
                    <c:v>보고서 작성 시간</c:v>
                  </c:pt>
                  <c:pt idx="2">
                    <c:v>일정 조율 시간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73</c:v>
                </c:pt>
                <c:pt idx="1">
                  <c:v>72</c:v>
                </c:pt>
                <c:pt idx="2">
                  <c:v>83</c:v>
                </c:pt>
              </c:numCache>
            </c:numRef>
          </c:val>
        </c:ser>
        <c:dLbls>
          <c:numFmt formatCode="#,##0&quot;%&quot;" sourceLinked="0"/>
          <c:txPr>
            <a:bodyPr/>
            <a:lstStyle/>
            <a:p>
              <a:pPr>
                <a:defRPr b="0" i="0" strike="noStrike" sz="1200" u="none">
                  <a:solidFill>
                    <a:srgbClr val="1F2937"/>
                  </a:solidFill>
                  <a:latin typeface="Malgun Gothic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6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1F2937"/>
                </a:solidFill>
                <a:latin typeface="Malgun Gothic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in val="0"/>
        </c:scaling>
        <c:delete val="0"/>
        <c:axPos val="l"/>
        <c:majorGridlines>
          <c:spPr>
            <a:ln w="9525" cap="flat">
              <a:solidFill>
                <a:srgbClr val="E2E8F0"/>
              </a:solidFill>
              <a:prstDash val="solid"/>
              <a:round/>
            </a:ln>
          </c:spPr>
        </c:majorGridlines>
        <c:numFmt formatCode="#,##0&quot;%&quot;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Malgun Gothic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이 자료의 근거: 2026년 3분기 운영 보고서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본 보고서는 2026년 3분기 동안 48명의 사용자를 대상으로 진행된 운영 결과를 담고 있습니다. 효율성 변화와 비용, 위험 요소를 점검하여 향후 방향을 세우고자 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차트를 통해 업무 도입 전후의 처리 시간 변화율을 확인할 수 있습니다. 모든 항목에서 유의미한 단축 효과가 나타났습니다.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표를 통해 각 업무 영역별 기존 시간과 도입 후 시간을 상세하게 비교할 수 있습니다.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운영에 소요되는 비용과 현재 승인 거절률 등의 핵심 수치입니다.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승인 거절률 4.2%에 대응하기 위해 면밀한 원인 분석과 모니터링이 필수적입니다. 사용자 피드백을 지속적으로 수렴하겠습니다.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다음 분기에는 지금까지 수집된 운영 데이터를 바탕으로 효율성을 유지하고 개선 방안을 검토하며, 비용 대비 효과를 계속 모니터링할 것입니다.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GEX_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0A56F7"/>
          </a:solidFill>
          <a:ln/>
        </p:spPr>
      </p:sp>
      <p:sp>
        <p:nvSpPr>
          <p:cNvPr id="3" name="Shape 1"/>
          <p:cNvSpPr/>
          <p:nvPr/>
        </p:nvSpPr>
        <p:spPr>
          <a:xfrm>
            <a:off x="640080" y="1344168"/>
            <a:ext cx="10908792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635508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ko-KR" altLang="en-US" sz="100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NAgex</a:t>
            </a:r>
            <a:endParaRPr lang="ko-KR" sz="1000" dirty="0"/>
          </a:p>
        </p:txBody>
      </p:sp>
      <p:sp>
        <p:nvSpPr>
          <p:cNvPr id="5" name="Text 3"/>
          <p:cNvSpPr/>
          <p:nvPr>
            <p:ph idx="103" type="title" hasCustomPrompt="1"/>
          </p:nvPr>
        </p:nvSpPr>
        <p:spPr>
          <a:xfrm>
            <a:off x="640080" y="347472"/>
            <a:ext cx="10908792" cy="932688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ko-KR" altLang="en-US" sz="3000" b="1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defRPr>
            </a:lvl1pPr>
          </a:lstStyle>
          <a:p>
            <a:pPr algn="l" indent="0" marL="0">
              <a:buNone/>
            </a:pPr>
            <a:endParaRPr lang="ko-KR" sz="3000" dirty="0"/>
          </a:p>
        </p:txBody>
      </p:sp>
      <p:sp>
        <p:nvSpPr>
          <p:cNvPr id="6" name="Text 3"/>
          <p:cNvSpPr/>
          <p:nvPr>
            <p:ph idx="104" type="body" hasCustomPrompt="1"/>
          </p:nvPr>
        </p:nvSpPr>
        <p:spPr>
          <a:xfrm>
            <a:off x="640080" y="1554480"/>
            <a:ext cx="10908792" cy="44348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ko-KR" altLang="en-US" sz="2400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defRPr>
            </a:lvl1pPr>
          </a:lstStyle>
          <a:p>
            <a:pPr algn="l" indent="0" marL="0">
              <a:buNone/>
            </a:pPr>
            <a:endParaRPr lang="ko-KR" sz="2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55080"/>
            <a:ext cx="66751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4748B"/>
                </a:solidFill>
                <a:latin typeface="Malgun Gothic"/>
                <a:ea typeface="Malgun Gothic"/>
                <a:cs typeface="Malgun Gothic"/>
              </a:defRPr>
            </a:lvl1pPr>
          </a:lstStyle>
          <a:p>
            <a:pPr algn="r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GEX_COVER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0A56F7"/>
          </a:solidFill>
          <a:ln/>
        </p:spPr>
      </p:sp>
      <p:sp>
        <p:nvSpPr>
          <p:cNvPr id="3" name="Text 1"/>
          <p:cNvSpPr/>
          <p:nvPr>
            <p:ph idx="101" type="title" hasCustomPrompt="1"/>
          </p:nvPr>
        </p:nvSpPr>
        <p:spPr>
          <a:xfrm>
            <a:off x="822960" y="1828800"/>
            <a:ext cx="10515600" cy="20116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ko-KR" altLang="en-US" sz="4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defRPr>
            </a:lvl1pPr>
          </a:lstStyle>
          <a:p>
            <a:pPr algn="l" indent="0" marL="0">
              <a:buNone/>
            </a:pPr>
            <a:endParaRPr lang="ko-KR" sz="4400" dirty="0"/>
          </a:p>
        </p:txBody>
      </p:sp>
      <p:sp>
        <p:nvSpPr>
          <p:cNvPr id="4" name="Text 1"/>
          <p:cNvSpPr/>
          <p:nvPr>
            <p:ph idx="102" type="body" hasCustomPrompt="1"/>
          </p:nvPr>
        </p:nvSpPr>
        <p:spPr>
          <a:xfrm>
            <a:off x="822960" y="4069080"/>
            <a:ext cx="10515600" cy="10972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ko-KR" altLang="en-US" sz="2200" dirty="0">
                <a:solidFill>
                  <a:srgbClr val="93C5F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defRPr>
            </a:lvl1pPr>
          </a:lstStyle>
          <a:p>
            <a:pPr algn="l" indent="0" marL="0">
              <a:buNone/>
            </a:pPr>
            <a:endParaRPr lang="ko-KR" sz="22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55080"/>
            <a:ext cx="66751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4748B"/>
                </a:solidFill>
                <a:latin typeface="Malgun Gothic"/>
                <a:ea typeface="Malgun Gothic"/>
                <a:cs typeface="Malgun Gothic"/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822960" y="1828800"/>
            <a:ext cx="105156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ko-KR" altLang="en-US" sz="4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2026년 3분기 운영 보고서</a:t>
            </a:r>
            <a:endParaRPr lang="ko-KR" sz="4400" dirty="0"/>
          </a:p>
        </p:txBody>
      </p:sp>
      <p:sp>
        <p:nvSpPr>
          <p:cNvPr id="3" name="Text 1"/>
          <p:cNvSpPr/>
          <p:nvPr>
            <p:ph idx="102" type="body" hasCustomPrompt="1"/>
          </p:nvPr>
        </p:nvSpPr>
        <p:spPr>
          <a:xfrm>
            <a:off x="822960" y="4069080"/>
            <a:ext cx="10515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ko-KR" altLang="en-US" sz="2200" dirty="0">
                <a:solidFill>
                  <a:srgbClr val="93C5F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48명의 사용자를 대상으로 한 운영 결과 및 효율성 분석</a:t>
            </a:r>
            <a:endParaRPr lang="ko-KR" sz="2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3"/>
          <p:cNvSpPr/>
          <p:nvPr>
            <p:ph idx="103" type="title" hasCustomPrompt="1"/>
          </p:nvPr>
        </p:nvSpPr>
        <p:spPr>
          <a:xfrm>
            <a:off x="640080" y="347472"/>
            <a:ext cx="10908792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ko-KR" altLang="en-US" sz="3000" b="1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운영 보고서 개요 및 목적</a:t>
            </a:r>
            <a:endParaRPr lang="ko-KR" sz="3000" dirty="0"/>
          </a:p>
        </p:txBody>
      </p:sp>
      <p:sp>
        <p:nvSpPr>
          <p:cNvPr id="3" name="Text 3"/>
          <p:cNvSpPr/>
          <p:nvPr>
            <p:ph idx="104" type="body" hasCustomPrompt="1"/>
          </p:nvPr>
        </p:nvSpPr>
        <p:spPr>
          <a:xfrm>
            <a:off x="640080" y="1554480"/>
            <a:ext cx="10908792" cy="4434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279400" indent="-279400">
              <a:spcAft>
                <a:spcPts val="1000"/>
              </a:spcAft>
              <a:buSzPct val="100000"/>
              <a:buChar char="•"/>
            </a:pPr>
            <a:r>
              <a:rPr lang="ko-KR" altLang="en-US" sz="2400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2026년 7월부터 9월까지 3개월간의 운영 결과를 기록하고 분석합니다.</a:t>
            </a:r>
            <a:endParaRPr lang="ko-KR" sz="2400" dirty="0"/>
          </a:p>
          <a:p>
            <a:pPr algn="l" marL="279400" indent="-279400">
              <a:spcAft>
                <a:spcPts val="1000"/>
              </a:spcAft>
              <a:buSzPct val="100000"/>
              <a:buChar char="•"/>
            </a:pPr>
            <a:r>
              <a:rPr lang="ko-KR" altLang="en-US" sz="2400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48명의 사용자를 대상으로 업무 프로세스 전반의 효율성 변화를 점검합니다.</a:t>
            </a:r>
            <a:endParaRPr lang="ko-KR" sz="2400" dirty="0"/>
          </a:p>
          <a:p>
            <a:pPr algn="l" marL="279400" indent="-279400">
              <a:spcAft>
                <a:spcPts val="1000"/>
              </a:spcAft>
              <a:buSzPct val="100000"/>
              <a:buChar char="•"/>
            </a:pPr>
            <a:r>
              <a:rPr lang="ko-KR" altLang="en-US" sz="2400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비용과 위험 요소를 종합적으로 분석하여 향후 운영 방향을 수립합니다.</a:t>
            </a:r>
            <a:endParaRPr lang="ko-KR" sz="2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55080"/>
            <a:ext cx="66751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4748B"/>
                </a:solidFill>
                <a:latin typeface="Malgun Gothic"/>
                <a:ea typeface="Malgun Gothic"/>
                <a:cs typeface="Malgun Gothic"/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3"/>
          <p:cNvSpPr/>
          <p:nvPr>
            <p:ph idx="103" type="title" hasCustomPrompt="1"/>
          </p:nvPr>
        </p:nvSpPr>
        <p:spPr>
          <a:xfrm>
            <a:off x="640080" y="347472"/>
            <a:ext cx="10908792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ko-KR" altLang="en-US" sz="3000" b="1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업무 도입 후 주요 처리 시간 단축</a:t>
            </a:r>
            <a:endParaRPr lang="ko-KR" sz="3000" dirty="0"/>
          </a:p>
        </p:txBody>
      </p:sp>
      <p:graphicFrame>
        <p:nvGraphicFramePr>
          <p:cNvPr id="3" name="Chart" descr="막대 차트. 변화율: 회의 준비 시간 73%, 보고서 작성 시간 72%, 일정 조율 시간 83%"/>
          <p:cNvGraphicFramePr/>
          <p:nvPr/>
        </p:nvGraphicFramePr>
        <p:xfrm>
          <a:off x="640080" y="1554480"/>
          <a:ext cx="7040880" cy="40690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4" name="Text 1"/>
          <p:cNvSpPr/>
          <p:nvPr/>
        </p:nvSpPr>
        <p:spPr>
          <a:xfrm>
            <a:off x="7955280" y="1737360"/>
            <a:ext cx="3593592" cy="3703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279400" indent="-279400">
              <a:spcAft>
                <a:spcPts val="1000"/>
              </a:spcAft>
              <a:buSzPct val="100000"/>
              <a:buChar char="•"/>
            </a:pPr>
            <a:r>
              <a:rPr lang="ko-KR" altLang="en-US" sz="2000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회의 준비 시간은 73% 단축되었습니다.</a:t>
            </a:r>
            <a:endParaRPr lang="en-US" sz="2000" dirty="0"/>
          </a:p>
          <a:p>
            <a:pPr algn="l" marL="279400" indent="-279400">
              <a:spcAft>
                <a:spcPts val="1000"/>
              </a:spcAft>
              <a:buSzPct val="100000"/>
              <a:buChar char="•"/>
            </a:pPr>
            <a:r>
              <a:rPr lang="ko-KR" altLang="en-US" sz="2000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보고서 작성 시간은 72% 단축되었습니다.</a:t>
            </a:r>
            <a:endParaRPr lang="en-US" sz="2000" dirty="0"/>
          </a:p>
          <a:p>
            <a:pPr algn="l" marL="279400" indent="-279400">
              <a:spcAft>
                <a:spcPts val="1000"/>
              </a:spcAft>
              <a:buSzPct val="100000"/>
              <a:buChar char="•"/>
            </a:pPr>
            <a:r>
              <a:rPr lang="ko-KR" altLang="en-US" sz="2000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일정 조율 시간은 83% 단축되었습니다.</a:t>
            </a:r>
            <a:endParaRPr lang="en-US" sz="2000" dirty="0"/>
          </a:p>
        </p:txBody>
      </p:sp>
      <p:sp>
        <p:nvSpPr>
          <p:cNvPr id="5" name="Text 2"/>
          <p:cNvSpPr/>
          <p:nvPr/>
        </p:nvSpPr>
        <p:spPr>
          <a:xfrm>
            <a:off x="640080" y="5943600"/>
            <a:ext cx="1090879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ko-KR" altLang="en-US" sz="1200" i="1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사용자 48명, 2026년 7월~9월</a:t>
            </a:r>
            <a:endParaRPr lang="ko-KR" sz="1200" dirty="0"/>
          </a:p>
        </p:txBody>
      </p:sp>
      <p:sp>
        <p:nvSpPr>
          <p:cNvPr id="7" name="Text 3"/>
          <p:cNvSpPr/>
          <p:nvPr>
            <p:ph idx="104" type="body" hasCustomPrompt="1"/>
          </p:nvPr>
        </p:nvSpPr>
        <p:spPr>
          <a:xfrm>
            <a:off x="640080" y="1554480"/>
            <a:ext cx="10908792" cy="4434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endParaRPr lang="ko-KR" sz="2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55080"/>
            <a:ext cx="66751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4748B"/>
                </a:solidFill>
                <a:latin typeface="Malgun Gothic"/>
                <a:ea typeface="Malgun Gothic"/>
                <a:cs typeface="Malgun Gothic"/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3"/>
          <p:cNvSpPr/>
          <p:nvPr>
            <p:ph idx="103" type="title" hasCustomPrompt="1"/>
          </p:nvPr>
        </p:nvSpPr>
        <p:spPr>
          <a:xfrm>
            <a:off x="640080" y="347472"/>
            <a:ext cx="10908792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ko-KR" altLang="en-US" sz="3000" b="1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처리 시간 상세 비교표</a:t>
            </a:r>
            <a:endParaRPr lang="ko-KR" sz="30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600200"/>
          <a:ext cx="10908792" cy="914400"/>
        </p:xfrm>
        <a:graphic>
          <a:graphicData uri="http://schemas.openxmlformats.org/drawingml/2006/table">
            <a:tbl>
              <a:tblPr/>
              <a:tblGrid>
                <a:gridCol w="4363517"/>
                <a:gridCol w="2181758"/>
                <a:gridCol w="2181758"/>
                <a:gridCol w="2181758"/>
              </a:tblGrid>
              <a:tr h="41209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구분</a:t>
                      </a:r>
                      <a:endParaRPr lang="en-US" sz="16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기존</a:t>
                      </a:r>
                      <a:endParaRPr lang="en-US" sz="16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도입 후</a:t>
                      </a:r>
                      <a:endParaRPr lang="en-US" sz="16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변화율</a:t>
                      </a:r>
                      <a:endParaRPr lang="en-US" sz="16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</a:tr>
              <a:tr h="41209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1F29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회의 준비 시간</a:t>
                      </a:r>
                      <a:endParaRPr lang="en-US" sz="16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600" dirty="0">
                          <a:solidFill>
                            <a:srgbClr val="1F29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45분</a:t>
                      </a:r>
                      <a:endParaRPr lang="en-US" sz="16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600" dirty="0">
                          <a:solidFill>
                            <a:srgbClr val="1F29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12분</a:t>
                      </a:r>
                      <a:endParaRPr lang="en-US" sz="16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1F29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73% 단축</a:t>
                      </a:r>
                      <a:endParaRPr lang="en-US" sz="16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209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1F29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보고서 작성 시간</a:t>
                      </a:r>
                      <a:endParaRPr lang="en-US" sz="16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C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600" dirty="0">
                          <a:solidFill>
                            <a:srgbClr val="1F29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3시간</a:t>
                      </a:r>
                      <a:endParaRPr lang="en-US" sz="16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C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600" dirty="0">
                          <a:solidFill>
                            <a:srgbClr val="1F29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50분</a:t>
                      </a:r>
                      <a:endParaRPr lang="en-US" sz="16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1F29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72% 단축</a:t>
                      </a:r>
                      <a:endParaRPr lang="en-US" sz="16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C"/>
                    </a:solidFill>
                  </a:tcPr>
                </a:tc>
              </a:tr>
              <a:tr h="41209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1F29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일정 조율 시간</a:t>
                      </a:r>
                      <a:endParaRPr lang="en-US" sz="16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600" dirty="0">
                          <a:solidFill>
                            <a:srgbClr val="1F29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30분</a:t>
                      </a:r>
                      <a:endParaRPr lang="en-US" sz="16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600" dirty="0">
                          <a:solidFill>
                            <a:srgbClr val="1F29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5분</a:t>
                      </a:r>
                      <a:endParaRPr lang="en-US" sz="16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1F29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83% 단축</a:t>
                      </a:r>
                      <a:endParaRPr lang="en-US" sz="16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Text 1"/>
          <p:cNvSpPr/>
          <p:nvPr/>
        </p:nvSpPr>
        <p:spPr>
          <a:xfrm>
            <a:off x="640080" y="3522878"/>
            <a:ext cx="10908792" cy="274076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279400" indent="-279400">
              <a:spcAft>
                <a:spcPts val="1000"/>
              </a:spcAft>
              <a:buSzPct val="100000"/>
              <a:buChar char="•"/>
            </a:pPr>
            <a:r>
              <a:rPr lang="ko-KR" altLang="en-US" sz="1800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회당 회의 준비 시간은 45분에서 12분으로 줄었습니다.</a:t>
            </a:r>
            <a:endParaRPr lang="en-US" sz="1800" dirty="0"/>
          </a:p>
          <a:p>
            <a:pPr algn="l" marL="279400" indent="-279400">
              <a:spcAft>
                <a:spcPts val="1000"/>
              </a:spcAft>
              <a:buSzPct val="100000"/>
              <a:buChar char="•"/>
            </a:pPr>
            <a:r>
              <a:rPr lang="ko-KR" altLang="en-US" sz="1800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보고서 작성 시간은 3시간에서 50분으로 감소했습니다.</a:t>
            </a:r>
            <a:endParaRPr lang="en-US" sz="1800" dirty="0"/>
          </a:p>
        </p:txBody>
      </p:sp>
      <p:sp>
        <p:nvSpPr>
          <p:cNvPr id="6" name="Text 3"/>
          <p:cNvSpPr/>
          <p:nvPr>
            <p:ph idx="104" type="body" hasCustomPrompt="1"/>
          </p:nvPr>
        </p:nvSpPr>
        <p:spPr>
          <a:xfrm>
            <a:off x="640080" y="1554480"/>
            <a:ext cx="10908792" cy="4434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endParaRPr lang="ko-KR" sz="2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55080"/>
            <a:ext cx="66751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4748B"/>
                </a:solidFill>
                <a:latin typeface="Malgun Gothic"/>
                <a:ea typeface="Malgun Gothic"/>
                <a:cs typeface="Malgun Gothic"/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3"/>
          <p:cNvSpPr/>
          <p:nvPr>
            <p:ph idx="103" type="title" hasCustomPrompt="1"/>
          </p:nvPr>
        </p:nvSpPr>
        <p:spPr>
          <a:xfrm>
            <a:off x="640080" y="347472"/>
            <a:ext cx="10908792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ko-KR" altLang="en-US" sz="3000" b="1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핵심 운영 수치 요약</a:t>
            </a:r>
            <a:endParaRPr lang="ko-KR" sz="3000" dirty="0"/>
          </a:p>
        </p:txBody>
      </p:sp>
      <p:sp>
        <p:nvSpPr>
          <p:cNvPr id="3" name="Text 1"/>
          <p:cNvSpPr/>
          <p:nvPr/>
        </p:nvSpPr>
        <p:spPr>
          <a:xfrm>
            <a:off x="640080" y="1737360"/>
            <a:ext cx="3453384" cy="2377440"/>
          </a:xfrm>
          <a:prstGeom prst="roundRect">
            <a:avLst>
              <a:gd name="adj" fmla="val 3077"/>
            </a:avLst>
          </a:prstGeom>
          <a:solidFill>
            <a:srgbClr val="F3F6FC"/>
          </a:solidFill>
          <a:ln w="12700">
            <a:solidFill>
              <a:srgbClr val="E2E8F0"/>
            </a:solidFill>
          </a:ln>
        </p:spPr>
        <p:txBody>
          <a:bodyPr wrap="square" lIns="152400" tIns="152400" rIns="152400" bIns="152400" rtlCol="0" anchor="ctr"/>
          <a:lstStyle/>
          <a:p>
            <a:pPr algn="ctr" indent="0" marL="0">
              <a:buNone/>
            </a:pPr>
            <a:r>
              <a:rPr lang="ko-KR" altLang="en-US" sz="4800" b="1" dirty="0">
                <a:solidFill>
                  <a:srgbClr val="0A56F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12,000원</a:t>
            </a:r>
            <a:endParaRPr lang="en-US" sz="4800" dirty="0"/>
          </a:p>
          <a:p>
            <a:pPr algn="ctr" indent="0" marL="0">
              <a:buNone/>
            </a:pPr>
            <a:r>
              <a:rPr lang="ko-KR" altLang="en-US" sz="1800" b="1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월 비용</a:t>
            </a:r>
            <a:endParaRPr lang="en-US" sz="4800" dirty="0"/>
          </a:p>
          <a:p>
            <a:pPr algn="ctr" indent="0" marL="0">
              <a:buNone/>
            </a:pPr>
            <a:r>
              <a:rPr lang="ko-KR" altLang="en-US" sz="130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사용자 1명당 소요</a:t>
            </a:r>
            <a:endParaRPr lang="en-US" sz="4800" dirty="0"/>
          </a:p>
        </p:txBody>
      </p:sp>
      <p:sp>
        <p:nvSpPr>
          <p:cNvPr id="4" name="Text 2"/>
          <p:cNvSpPr/>
          <p:nvPr/>
        </p:nvSpPr>
        <p:spPr>
          <a:xfrm>
            <a:off x="4367784" y="1737360"/>
            <a:ext cx="3453384" cy="2377440"/>
          </a:xfrm>
          <a:prstGeom prst="roundRect">
            <a:avLst>
              <a:gd name="adj" fmla="val 3077"/>
            </a:avLst>
          </a:prstGeom>
          <a:solidFill>
            <a:srgbClr val="F3F6FC"/>
          </a:solidFill>
          <a:ln w="12700">
            <a:solidFill>
              <a:srgbClr val="E2E8F0"/>
            </a:solidFill>
          </a:ln>
        </p:spPr>
        <p:txBody>
          <a:bodyPr wrap="square" lIns="152400" tIns="152400" rIns="152400" bIns="152400" rtlCol="0" anchor="ctr"/>
          <a:lstStyle/>
          <a:p>
            <a:pPr algn="ctr" indent="0" marL="0">
              <a:buNone/>
            </a:pPr>
            <a:r>
              <a:rPr lang="ko-KR" altLang="en-US" sz="4800" b="1" dirty="0">
                <a:solidFill>
                  <a:srgbClr val="0A56F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4.2%</a:t>
            </a:r>
            <a:endParaRPr lang="en-US" sz="4800" dirty="0"/>
          </a:p>
          <a:p>
            <a:pPr algn="ctr" indent="0" marL="0">
              <a:buNone/>
            </a:pPr>
            <a:r>
              <a:rPr lang="ko-KR" altLang="en-US" sz="1800" b="1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승인 거절률</a:t>
            </a:r>
            <a:endParaRPr lang="en-US" sz="4800" dirty="0"/>
          </a:p>
          <a:p>
            <a:pPr algn="ctr" indent="0" marL="0">
              <a:buNone/>
            </a:pPr>
            <a:r>
              <a:rPr lang="ko-KR" altLang="en-US" sz="130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현재 기록된 거절률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8095488" y="1737360"/>
            <a:ext cx="3453384" cy="2377440"/>
          </a:xfrm>
          <a:prstGeom prst="roundRect">
            <a:avLst>
              <a:gd name="adj" fmla="val 3077"/>
            </a:avLst>
          </a:prstGeom>
          <a:solidFill>
            <a:srgbClr val="F3F6FC"/>
          </a:solidFill>
          <a:ln w="12700">
            <a:solidFill>
              <a:srgbClr val="E2E8F0"/>
            </a:solidFill>
          </a:ln>
        </p:spPr>
        <p:txBody>
          <a:bodyPr wrap="square" lIns="152400" tIns="152400" rIns="152400" bIns="152400" rtlCol="0" anchor="ctr"/>
          <a:lstStyle/>
          <a:p>
            <a:pPr algn="ctr" indent="0" marL="0">
              <a:buNone/>
            </a:pPr>
            <a:r>
              <a:rPr lang="ko-KR" altLang="en-US" sz="4800" b="1" dirty="0">
                <a:solidFill>
                  <a:srgbClr val="0A56F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48명</a:t>
            </a:r>
            <a:endParaRPr lang="en-US" sz="4800" dirty="0"/>
          </a:p>
          <a:p>
            <a:pPr algn="ctr" indent="0" marL="0">
              <a:buNone/>
            </a:pPr>
            <a:r>
              <a:rPr lang="ko-KR" altLang="en-US" sz="1800" b="1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조사 대상</a:t>
            </a:r>
            <a:endParaRPr lang="en-US" sz="4800" dirty="0"/>
          </a:p>
          <a:p>
            <a:pPr algn="ctr" indent="0" marL="0">
              <a:buNone/>
            </a:pPr>
            <a:r>
              <a:rPr lang="ko-KR" altLang="en-US" sz="130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사용자 기준</a:t>
            </a:r>
            <a:endParaRPr lang="en-US" sz="4800" dirty="0"/>
          </a:p>
        </p:txBody>
      </p:sp>
      <p:sp>
        <p:nvSpPr>
          <p:cNvPr id="6" name="Text 4"/>
          <p:cNvSpPr/>
          <p:nvPr/>
        </p:nvSpPr>
        <p:spPr>
          <a:xfrm>
            <a:off x="640080" y="4434840"/>
            <a:ext cx="10908792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279400" indent="-279400">
              <a:spcAft>
                <a:spcPts val="1000"/>
              </a:spcAft>
              <a:buSzPct val="100000"/>
              <a:buChar char="•"/>
            </a:pPr>
            <a:r>
              <a:rPr lang="ko-KR" altLang="en-US" sz="2000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사용자 1명당 월 12,000원의 비용이 소요됩니다.</a:t>
            </a:r>
            <a:endParaRPr lang="en-US" sz="2000" dirty="0"/>
          </a:p>
          <a:p>
            <a:pPr algn="l" marL="279400" indent="-279400">
              <a:spcAft>
                <a:spcPts val="1000"/>
              </a:spcAft>
              <a:buSzPct val="100000"/>
              <a:buChar char="•"/>
            </a:pPr>
            <a:r>
              <a:rPr lang="ko-KR" altLang="en-US" sz="2000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현재 승인 거절률은 4.2%를 기록하고 있습니다.</a:t>
            </a:r>
            <a:endParaRPr lang="en-US" sz="2000" dirty="0"/>
          </a:p>
        </p:txBody>
      </p:sp>
      <p:sp>
        <p:nvSpPr>
          <p:cNvPr id="8" name="Text 3"/>
          <p:cNvSpPr/>
          <p:nvPr>
            <p:ph idx="104" type="body" hasCustomPrompt="1"/>
          </p:nvPr>
        </p:nvSpPr>
        <p:spPr>
          <a:xfrm>
            <a:off x="640080" y="1554480"/>
            <a:ext cx="10908792" cy="4434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endParaRPr lang="ko-KR" sz="2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55080"/>
            <a:ext cx="66751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4748B"/>
                </a:solidFill>
                <a:latin typeface="Malgun Gothic"/>
                <a:ea typeface="Malgun Gothic"/>
                <a:cs typeface="Malgun Gothic"/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3"/>
          <p:cNvSpPr/>
          <p:nvPr>
            <p:ph idx="103" type="title" hasCustomPrompt="1"/>
          </p:nvPr>
        </p:nvSpPr>
        <p:spPr>
          <a:xfrm>
            <a:off x="640080" y="347472"/>
            <a:ext cx="10908792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ko-KR" altLang="en-US" sz="3000" b="1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위험 요소 및 대응 방안</a:t>
            </a:r>
            <a:endParaRPr lang="ko-KR" sz="3000" dirty="0"/>
          </a:p>
        </p:txBody>
      </p:sp>
      <p:sp>
        <p:nvSpPr>
          <p:cNvPr id="3" name="Text 3"/>
          <p:cNvSpPr/>
          <p:nvPr>
            <p:ph idx="104" type="body" hasCustomPrompt="1"/>
          </p:nvPr>
        </p:nvSpPr>
        <p:spPr>
          <a:xfrm>
            <a:off x="640080" y="1554480"/>
            <a:ext cx="10908792" cy="4434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279400" indent="-279400">
              <a:spcAft>
                <a:spcPts val="1000"/>
              </a:spcAft>
              <a:buSzPct val="100000"/>
              <a:buChar char="•"/>
            </a:pPr>
            <a:r>
              <a:rPr lang="ko-KR" altLang="en-US" sz="2400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현재 기록된 4.2%의 승인 거절률에 대한 원인 분석이 필요합니다.</a:t>
            </a:r>
            <a:endParaRPr lang="ko-KR" sz="2400" dirty="0"/>
          </a:p>
          <a:p>
            <a:pPr algn="l" marL="279400" indent="-279400">
              <a:spcAft>
                <a:spcPts val="1000"/>
              </a:spcAft>
              <a:buSzPct val="100000"/>
              <a:buChar char="•"/>
            </a:pPr>
            <a:r>
              <a:rPr lang="ko-KR" altLang="en-US" sz="2400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지속적인 모니터링을 통해 운영 안정을 도모해야 합니다.</a:t>
            </a:r>
            <a:endParaRPr lang="ko-KR" sz="2400" dirty="0"/>
          </a:p>
          <a:p>
            <a:pPr algn="l" marL="279400" indent="-279400">
              <a:spcAft>
                <a:spcPts val="1000"/>
              </a:spcAft>
              <a:buSzPct val="100000"/>
              <a:buChar char="•"/>
            </a:pPr>
            <a:r>
              <a:rPr lang="ko-KR" altLang="en-US" sz="2400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사용자 48명을 대상으로 한 피드백 수렴으로 안정성을 확보합니다.</a:t>
            </a:r>
            <a:endParaRPr lang="ko-KR" sz="2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55080"/>
            <a:ext cx="66751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4748B"/>
                </a:solidFill>
                <a:latin typeface="Malgun Gothic"/>
                <a:ea typeface="Malgun Gothic"/>
                <a:cs typeface="Malgun Gothic"/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3"/>
          <p:cNvSpPr/>
          <p:nvPr>
            <p:ph idx="103" type="title" hasCustomPrompt="1"/>
          </p:nvPr>
        </p:nvSpPr>
        <p:spPr>
          <a:xfrm>
            <a:off x="640080" y="347472"/>
            <a:ext cx="10908792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ko-KR" altLang="en-US" sz="3000" b="1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다음 분기 운영 계획</a:t>
            </a:r>
            <a:endParaRPr lang="ko-KR" sz="3000" dirty="0"/>
          </a:p>
        </p:txBody>
      </p:sp>
      <p:sp>
        <p:nvSpPr>
          <p:cNvPr id="3" name="Text 3"/>
          <p:cNvSpPr/>
          <p:nvPr>
            <p:ph idx="104" type="body" hasCustomPrompt="1"/>
          </p:nvPr>
        </p:nvSpPr>
        <p:spPr>
          <a:xfrm>
            <a:off x="640080" y="1554480"/>
            <a:ext cx="10908792" cy="4434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279400" indent="-279400">
              <a:spcAft>
                <a:spcPts val="1000"/>
              </a:spcAft>
              <a:buSzPct val="100000"/>
              <a:buChar char="•"/>
            </a:pPr>
            <a:r>
              <a:rPr lang="ko-KR" altLang="en-US" sz="2400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현재까지 파악된 운영 데이터를 기반으로 효율성을 유지합니다.</a:t>
            </a:r>
            <a:endParaRPr lang="ko-KR" sz="2400" dirty="0"/>
          </a:p>
          <a:p>
            <a:pPr algn="l" marL="279400" indent="-279400">
              <a:spcAft>
                <a:spcPts val="1000"/>
              </a:spcAft>
              <a:buSzPct val="100000"/>
              <a:buChar char="•"/>
            </a:pPr>
            <a:r>
              <a:rPr lang="ko-KR" altLang="en-US" sz="2400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지속적인 효율성 개선 방안을 검토할 예정입니다.</a:t>
            </a:r>
            <a:endParaRPr lang="ko-KR" sz="2400" dirty="0"/>
          </a:p>
          <a:p>
            <a:pPr algn="l" marL="279400" indent="-279400">
              <a:spcAft>
                <a:spcPts val="1000"/>
              </a:spcAft>
              <a:buSzPct val="100000"/>
              <a:buChar char="•"/>
            </a:pPr>
            <a:r>
              <a:rPr lang="ko-KR" altLang="en-US" sz="2400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비용 대비 효과를 지속적으로 모니터링합니다.</a:t>
            </a:r>
            <a:endParaRPr lang="ko-KR" sz="2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55080"/>
            <a:ext cx="66751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4748B"/>
                </a:solidFill>
                <a:latin typeface="Malgun Gothic"/>
                <a:ea typeface="Malgun Gothic"/>
                <a:cs typeface="Malgun Gothic"/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Malgun Gothic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Malgun Gothic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NAgex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2026년 3분기 운영 보고서</dc:title>
  <dc:subject>48명의 사용자를 대상으로 한 운영 결과 및 효율성 분석</dc:subject>
  <dc:creator>NAgex</dc:creator>
  <cp:lastModifiedBy>NAgex</cp:lastModifiedBy>
  <cp:revision>1</cp:revision>
  <dcterms:created xsi:type="dcterms:W3CDTF">2026-10-17T08:44:30Z</dcterms:created>
  <dcterms:modified xsi:type="dcterms:W3CDTF">2026-10-17T08:44:30Z</dcterms:modified>
</cp:coreProperties>
</file>